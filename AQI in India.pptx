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al Black" panose="020B0A04020102020204" pitchFamily="34" charset="0"/>
      <p:bold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91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70730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Air Quality Crisis in India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AQI patterns across states and cities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2777"/>
            <a:ext cx="6369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The Challenge We Face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4450" b="1" dirty="0">
              <a:solidFill>
                <a:srgbClr val="FFFFFF"/>
              </a:solidFill>
              <a:latin typeface="Arial Black" panose="020B0A04020102020204" pitchFamily="34" charset="0"/>
              <a:ea typeface="Merriweather Bold" pitchFamily="34" charset="-122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59937"/>
            <a:ext cx="462629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Growing Health Emergency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28277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Air pollution threatens millions across urban and industrial India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19063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Monitoring Air Quality Index (AQI) is essential for protecting public health and informing policy decisions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76872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Project Goals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93790" y="527720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month-wise AQI patterns nationwide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71940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pollution hotspots by region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1616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dominant pollutants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60380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data-driven environmental policy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5" y="2715917"/>
            <a:ext cx="5794350" cy="406665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65069" y="612338"/>
            <a:ext cx="5707499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Dashboard Overview</a:t>
            </a:r>
            <a:endParaRPr lang="en-US" sz="4350" dirty="0"/>
          </a:p>
        </p:txBody>
      </p:sp>
      <p:sp>
        <p:nvSpPr>
          <p:cNvPr id="5" name="Text 1"/>
          <p:cNvSpPr/>
          <p:nvPr/>
        </p:nvSpPr>
        <p:spPr>
          <a:xfrm>
            <a:off x="6265069" y="1641396"/>
            <a:ext cx="758666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Power BI platform integrating comprehensive AQI data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6265069" y="2247662"/>
            <a:ext cx="3682127" cy="2929533"/>
          </a:xfrm>
          <a:prstGeom prst="roundRect">
            <a:avLst>
              <a:gd name="adj" fmla="val 312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10337" y="2492931"/>
            <a:ext cx="667464" cy="667464"/>
          </a:xfrm>
          <a:prstGeom prst="roundRect">
            <a:avLst>
              <a:gd name="adj" fmla="val 13698245"/>
            </a:avLst>
          </a:prstGeom>
          <a:solidFill>
            <a:srgbClr val="050958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3932" y="2676406"/>
            <a:ext cx="300276" cy="3002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10337" y="3382804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Day-Wise Data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6510337" y="3863935"/>
            <a:ext cx="3191589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Aggregated across states, cities, and time periods for deep analysis</a:t>
            </a:r>
            <a:endParaRPr lang="en-US" sz="1750" dirty="0"/>
          </a:p>
        </p:txBody>
      </p:sp>
      <p:sp>
        <p:nvSpPr>
          <p:cNvPr id="11" name="Shape 6"/>
          <p:cNvSpPr/>
          <p:nvPr/>
        </p:nvSpPr>
        <p:spPr>
          <a:xfrm>
            <a:off x="10169604" y="2247662"/>
            <a:ext cx="3682127" cy="2929533"/>
          </a:xfrm>
          <a:prstGeom prst="roundRect">
            <a:avLst>
              <a:gd name="adj" fmla="val 312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0414873" y="2492931"/>
            <a:ext cx="667464" cy="667464"/>
          </a:xfrm>
          <a:prstGeom prst="roundRect">
            <a:avLst>
              <a:gd name="adj" fmla="val 13698245"/>
            </a:avLst>
          </a:prstGeom>
          <a:solidFill>
            <a:srgbClr val="050958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98468" y="2676406"/>
            <a:ext cx="300276" cy="3002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14873" y="3382804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Dynamic Filtering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10414873" y="3863935"/>
            <a:ext cx="3191589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slicers: Year, State, Area for customized views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6265069" y="5399603"/>
            <a:ext cx="7586663" cy="2217539"/>
          </a:xfrm>
          <a:prstGeom prst="roundRect">
            <a:avLst>
              <a:gd name="adj" fmla="val 412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510337" y="5644872"/>
            <a:ext cx="667464" cy="667464"/>
          </a:xfrm>
          <a:prstGeom prst="roundRect">
            <a:avLst>
              <a:gd name="adj" fmla="val 13698245"/>
            </a:avLst>
          </a:prstGeom>
          <a:solidFill>
            <a:srgbClr val="050958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3932" y="5828348"/>
            <a:ext cx="300276" cy="3002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10337" y="6534745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Visual Analytics</a:t>
            </a:r>
            <a:endParaRPr lang="en-US" sz="2150" dirty="0"/>
          </a:p>
        </p:txBody>
      </p:sp>
      <p:sp>
        <p:nvSpPr>
          <p:cNvPr id="20" name="Text 13"/>
          <p:cNvSpPr/>
          <p:nvPr/>
        </p:nvSpPr>
        <p:spPr>
          <a:xfrm>
            <a:off x="6510337" y="7015877"/>
            <a:ext cx="7096125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maps, trend lines, and Top 10 rankings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2913"/>
            <a:ext cx="77920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Key Performance Indicators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208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Average AQI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Delhi–NCR region shows hazardous levels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PM2.5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Primary Pollutant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 particulate matter dominates across regions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10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Top Cities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polluted urban areas identified and tracked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9303" y="458748"/>
            <a:ext cx="6681549" cy="52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Delhi–NCR Pollution Emergency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302" y="1417796"/>
            <a:ext cx="6272925" cy="63530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01895" y="1230155"/>
            <a:ext cx="4853157" cy="4964668"/>
          </a:xfrm>
          <a:prstGeom prst="roundRect">
            <a:avLst>
              <a:gd name="adj" fmla="val 217"/>
            </a:avLst>
          </a:prstGeom>
          <a:solidFill>
            <a:srgbClr val="0C0A33"/>
          </a:solidFill>
          <a:ln/>
        </p:spPr>
      </p:sp>
      <p:sp>
        <p:nvSpPr>
          <p:cNvPr id="5" name="Shape 2"/>
          <p:cNvSpPr/>
          <p:nvPr/>
        </p:nvSpPr>
        <p:spPr>
          <a:xfrm>
            <a:off x="8668703" y="1417796"/>
            <a:ext cx="3883104" cy="1340287"/>
          </a:xfrm>
          <a:prstGeom prst="roundRect">
            <a:avLst>
              <a:gd name="adj" fmla="val 8187"/>
            </a:avLst>
          </a:prstGeom>
          <a:solidFill>
            <a:srgbClr val="0C0A33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45843" y="1417796"/>
            <a:ext cx="91440" cy="134028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926949" y="1607463"/>
            <a:ext cx="2085261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Hazardous Category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26949" y="2034778"/>
            <a:ext cx="3435191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AQI of ~208 poses severe health risks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68703" y="2924889"/>
            <a:ext cx="3883104" cy="1340287"/>
          </a:xfrm>
          <a:prstGeom prst="roundRect">
            <a:avLst>
              <a:gd name="adj" fmla="val 8187"/>
            </a:avLst>
          </a:prstGeom>
          <a:solidFill>
            <a:srgbClr val="0C0A33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45843" y="2924889"/>
            <a:ext cx="91440" cy="134028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8926949" y="3114556"/>
            <a:ext cx="214991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Regional Dominance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26949" y="3541871"/>
            <a:ext cx="3435191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NCR cities rank in Top 10 most polluted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45843" y="4411079"/>
            <a:ext cx="3883104" cy="1340287"/>
          </a:xfrm>
          <a:prstGeom prst="roundRect">
            <a:avLst>
              <a:gd name="adj" fmla="val 8187"/>
            </a:avLst>
          </a:prstGeom>
          <a:solidFill>
            <a:srgbClr val="0C0A33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5843" y="4431983"/>
            <a:ext cx="91440" cy="134028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926949" y="4621649"/>
            <a:ext cx="2085261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Persistent Crisis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926949" y="5048964"/>
            <a:ext cx="3435191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Year-round elevated levels demand urgent action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5212"/>
            <a:ext cx="57764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PM2.5 Health Threat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381970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85%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1964293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6824" y="5650111"/>
            <a:ext cx="32325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Days Above Safe Levels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14052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PM2.5 consistently exceeds WHO guidelines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381970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2.5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1964293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650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Micron Size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14052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 particles penetrate deep into lungs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381970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1st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1964293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5650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Primary Pollutant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14052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Identified across all major urban centers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71214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PM2.5 poses the greatest health risk, causing respiratory and cardiovascular diseases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541" y="557451"/>
            <a:ext cx="6066473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Geographic Distribution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8541" y="1493639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08541" y="2121098"/>
            <a:ext cx="3608546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Northern Concentration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708541" y="2804279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North and North-Central India show significantly higher AQI levels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08541" y="3355777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 corridors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8541" y="3750469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Dense urban populations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08541" y="4145161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Weather patterns trap pollutants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08541" y="4696658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08541" y="5324118"/>
            <a:ext cx="3036808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Southern Contrast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708541" y="6007298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Southern regions maintain relatively better air quality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08541" y="6558796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 industrial density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08541" y="6953488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Coastal wind circulation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08541" y="7348180"/>
            <a:ext cx="77269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cover advantages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061" y="1057989"/>
            <a:ext cx="5133499" cy="64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Seasonal Patterns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05061" y="2007632"/>
            <a:ext cx="770667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Month-wise AQI reveals significant fluctuation driven by multiple factors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36043" y="2567226"/>
            <a:ext cx="22860" cy="4604266"/>
          </a:xfrm>
          <a:prstGeom prst="roundRect">
            <a:avLst>
              <a:gd name="adj" fmla="val 40000"/>
            </a:avLst>
          </a:prstGeom>
          <a:solidFill>
            <a:srgbClr val="44426B"/>
          </a:solidFill>
          <a:ln/>
        </p:spPr>
      </p:sp>
      <p:sp>
        <p:nvSpPr>
          <p:cNvPr id="6" name="Shape 3"/>
          <p:cNvSpPr/>
          <p:nvPr/>
        </p:nvSpPr>
        <p:spPr>
          <a:xfrm>
            <a:off x="6644164" y="2786777"/>
            <a:ext cx="615910" cy="22860"/>
          </a:xfrm>
          <a:prstGeom prst="roundRect">
            <a:avLst>
              <a:gd name="adj" fmla="val 40000"/>
            </a:avLst>
          </a:prstGeom>
          <a:solidFill>
            <a:srgbClr val="44426B"/>
          </a:solidFill>
          <a:ln/>
        </p:spPr>
      </p:sp>
      <p:sp>
        <p:nvSpPr>
          <p:cNvPr id="7" name="Shape 4"/>
          <p:cNvSpPr/>
          <p:nvPr/>
        </p:nvSpPr>
        <p:spPr>
          <a:xfrm>
            <a:off x="6205061" y="2567226"/>
            <a:ext cx="461963" cy="461963"/>
          </a:xfrm>
          <a:prstGeom prst="roundRect">
            <a:avLst>
              <a:gd name="adj" fmla="val 1979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82095" y="2605742"/>
            <a:ext cx="307896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62718" y="2637711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Oct–Nov Peak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62718" y="3081695"/>
            <a:ext cx="64490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Stubble burning, Diwali firecrackers, temperature inversion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44164" y="4040505"/>
            <a:ext cx="615910" cy="22860"/>
          </a:xfrm>
          <a:prstGeom prst="roundRect">
            <a:avLst>
              <a:gd name="adj" fmla="val 40000"/>
            </a:avLst>
          </a:prstGeom>
          <a:solidFill>
            <a:srgbClr val="44426B"/>
          </a:solidFill>
          <a:ln/>
        </p:spPr>
      </p:sp>
      <p:sp>
        <p:nvSpPr>
          <p:cNvPr id="12" name="Shape 9"/>
          <p:cNvSpPr/>
          <p:nvPr/>
        </p:nvSpPr>
        <p:spPr>
          <a:xfrm>
            <a:off x="6205061" y="3820954"/>
            <a:ext cx="461963" cy="461963"/>
          </a:xfrm>
          <a:prstGeom prst="roundRect">
            <a:avLst>
              <a:gd name="adj" fmla="val 1979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82095" y="3859470"/>
            <a:ext cx="307896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462718" y="3891439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Winter Surge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462718" y="4335423"/>
            <a:ext cx="64490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Dec–Jan see trapped emissions, heating, low wind speeds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44164" y="5294233"/>
            <a:ext cx="615910" cy="22860"/>
          </a:xfrm>
          <a:prstGeom prst="roundRect">
            <a:avLst>
              <a:gd name="adj" fmla="val 40000"/>
            </a:avLst>
          </a:prstGeom>
          <a:solidFill>
            <a:srgbClr val="44426B"/>
          </a:solidFill>
          <a:ln/>
        </p:spPr>
      </p:sp>
      <p:sp>
        <p:nvSpPr>
          <p:cNvPr id="17" name="Shape 14"/>
          <p:cNvSpPr/>
          <p:nvPr/>
        </p:nvSpPr>
        <p:spPr>
          <a:xfrm>
            <a:off x="6205061" y="5074682"/>
            <a:ext cx="461963" cy="461963"/>
          </a:xfrm>
          <a:prstGeom prst="roundRect">
            <a:avLst>
              <a:gd name="adj" fmla="val 1979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82095" y="5113199"/>
            <a:ext cx="307896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462718" y="5145167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Monsoon Relief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462718" y="5589151"/>
            <a:ext cx="64490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Jul–Aug show improvement due to rainfall washing pollutants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44164" y="6547961"/>
            <a:ext cx="615910" cy="22860"/>
          </a:xfrm>
          <a:prstGeom prst="roundRect">
            <a:avLst>
              <a:gd name="adj" fmla="val 40000"/>
            </a:avLst>
          </a:prstGeom>
          <a:solidFill>
            <a:srgbClr val="44426B"/>
          </a:solidFill>
          <a:ln/>
        </p:spPr>
      </p:sp>
      <p:sp>
        <p:nvSpPr>
          <p:cNvPr id="22" name="Shape 19"/>
          <p:cNvSpPr/>
          <p:nvPr/>
        </p:nvSpPr>
        <p:spPr>
          <a:xfrm>
            <a:off x="6205061" y="6328410"/>
            <a:ext cx="461963" cy="461963"/>
          </a:xfrm>
          <a:prstGeom prst="roundRect">
            <a:avLst>
              <a:gd name="adj" fmla="val 1979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82095" y="6366927"/>
            <a:ext cx="307896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462718" y="6398895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Summer Variation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462718" y="6842879"/>
            <a:ext cx="64490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Mar–May: dust storms, heat contribute to moderate levels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6628" y="497919"/>
            <a:ext cx="5301139" cy="565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City-Level Disparities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596628" y="1514951"/>
            <a:ext cx="2726531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Uneven Distribution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96628" y="2034659"/>
            <a:ext cx="549794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AQI varies dramatically within states, highlighting need for localized interventions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dirty="0">
              <a:solidFill>
                <a:srgbClr val="FFFFF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596628" y="2912685"/>
            <a:ext cx="90368" cy="90368"/>
          </a:xfrm>
          <a:prstGeom prst="roundRect">
            <a:avLst>
              <a:gd name="adj" fmla="val 505931"/>
            </a:avLst>
          </a:prstGeom>
          <a:solidFill>
            <a:srgbClr val="050958"/>
          </a:solidFill>
          <a:ln/>
        </p:spPr>
      </p:sp>
      <p:sp>
        <p:nvSpPr>
          <p:cNvPr id="6" name="Text 4"/>
          <p:cNvSpPr/>
          <p:nvPr/>
        </p:nvSpPr>
        <p:spPr>
          <a:xfrm>
            <a:off x="1827549" y="2816662"/>
            <a:ext cx="420790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Industrial cities show 2-3x higher AQI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596628" y="3556695"/>
            <a:ext cx="90368" cy="90368"/>
          </a:xfrm>
          <a:prstGeom prst="roundRect">
            <a:avLst>
              <a:gd name="adj" fmla="val 505931"/>
            </a:avLst>
          </a:prstGeom>
          <a:solidFill>
            <a:srgbClr val="050958"/>
          </a:solidFill>
          <a:ln/>
        </p:spPr>
      </p:sp>
      <p:sp>
        <p:nvSpPr>
          <p:cNvPr id="8" name="Text 6"/>
          <p:cNvSpPr/>
          <p:nvPr/>
        </p:nvSpPr>
        <p:spPr>
          <a:xfrm>
            <a:off x="1867733" y="3460671"/>
            <a:ext cx="412754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State averages mask critical hotspots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596628" y="4200704"/>
            <a:ext cx="90368" cy="90368"/>
          </a:xfrm>
          <a:prstGeom prst="roundRect">
            <a:avLst>
              <a:gd name="adj" fmla="val 505931"/>
            </a:avLst>
          </a:prstGeom>
          <a:solidFill>
            <a:srgbClr val="050958"/>
          </a:solidFill>
          <a:ln/>
        </p:spPr>
      </p:sp>
      <p:sp>
        <p:nvSpPr>
          <p:cNvPr id="10" name="Text 8"/>
          <p:cNvSpPr/>
          <p:nvPr/>
        </p:nvSpPr>
        <p:spPr>
          <a:xfrm>
            <a:off x="1867733" y="4104680"/>
            <a:ext cx="435578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City-specific factors dominate patterns</a:t>
            </a:r>
            <a:endParaRPr lang="en-US" sz="1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499" y="898088"/>
            <a:ext cx="5497949" cy="54979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96628" y="7442240"/>
            <a:ext cx="114370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775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909" y="3144560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Moving Forward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09" y="4098131"/>
            <a:ext cx="4347448" cy="8247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0006" y="512897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Targeted Action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000006" y="5574863"/>
            <a:ext cx="3935254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resources on identified hotspots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4098131"/>
            <a:ext cx="4347567" cy="8247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47454" y="512897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Seasonal Planning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5347454" y="5574863"/>
            <a:ext cx="3935373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Preventive measures before peak months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4" y="4098131"/>
            <a:ext cx="4347567" cy="8247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95021" y="5128974"/>
            <a:ext cx="2859643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erriweather Bold" pitchFamily="34" charset="-122"/>
                <a:cs typeface="Merriweather Bold" pitchFamily="34" charset="-120"/>
              </a:rPr>
              <a:t>Evidence-Based Policy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9695021" y="5574863"/>
            <a:ext cx="3935373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environmental regulations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793909" y="6672739"/>
            <a:ext cx="13042583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AQI Analysis dashboard demonstrates how business intelligence tools transform environmental data into actionable insights. 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Delhi-NCR remains the epicenter of India's air quality crisis</a:t>
            </a: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requiring coordinated action across government, industry, and communities to protect public health.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433</Words>
  <Application>Microsoft Office PowerPoint</Application>
  <PresentationFormat>Custom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Black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MAITREYA SALODKAR</cp:lastModifiedBy>
  <cp:revision>3</cp:revision>
  <dcterms:created xsi:type="dcterms:W3CDTF">2026-01-08T04:44:10Z</dcterms:created>
  <dcterms:modified xsi:type="dcterms:W3CDTF">2026-01-08T05:03:13Z</dcterms:modified>
</cp:coreProperties>
</file>